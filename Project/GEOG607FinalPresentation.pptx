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3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88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5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7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60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6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1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5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7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6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F80327BE-B17A-0D4C-89C0-F3A8EA9CD20B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A9FD4-A52B-D24C-8819-1E17F6DEE6D5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760484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1752-1688.13104" TargetMode="External"/><Relationship Id="rId2" Type="http://schemas.openxmlformats.org/officeDocument/2006/relationships/hyperlink" Target="https://doi.org/10.1002/hyp.612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1F0B-BAC0-039F-A330-F2706E20C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73167"/>
            <a:ext cx="8983717" cy="2014678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 Modeling of Peak Snow Water Equivalent (SWE) in Water Year 2010 for the Conterminous U.S.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C6B2E-9E81-4690-2946-6C9DBF7E9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405" y="5064538"/>
            <a:ext cx="5357600" cy="1160213"/>
          </a:xfrm>
        </p:spPr>
        <p:txBody>
          <a:bodyPr/>
          <a:lstStyle/>
          <a:p>
            <a:r>
              <a:rPr lang="en-US" dirty="0"/>
              <a:t>Griffin Shelor</a:t>
            </a:r>
          </a:p>
        </p:txBody>
      </p:sp>
    </p:spTree>
    <p:extLst>
      <p:ext uri="{BB962C8B-B14F-4D97-AF65-F5344CB8AC3E}">
        <p14:creationId xmlns:p14="http://schemas.microsoft.com/office/powerpoint/2010/main" val="306804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0EB3-E264-53B1-1D1B-7001791E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171F-18C2-5923-6EC9-54B5BED1B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559" y="1702676"/>
            <a:ext cx="2382579" cy="4347268"/>
          </a:xfrm>
        </p:spPr>
        <p:txBody>
          <a:bodyPr/>
          <a:lstStyle/>
          <a:p>
            <a:r>
              <a:rPr lang="en-US" dirty="0"/>
              <a:t>Importance of  Water to Western U.S.</a:t>
            </a:r>
          </a:p>
          <a:p>
            <a:r>
              <a:rPr lang="en-US" dirty="0"/>
              <a:t>Large percentage of precipitation in the western US falls as snow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015358-1CE3-BDF0-EC98-37011285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84" t="201" r="6810" b="-1"/>
          <a:stretch/>
        </p:blipFill>
        <p:spPr>
          <a:xfrm>
            <a:off x="746234" y="1460937"/>
            <a:ext cx="6894787" cy="521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0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500C-55A3-D64A-28F8-A7F7D15F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691" y="588661"/>
            <a:ext cx="7958331" cy="1077229"/>
          </a:xfrm>
        </p:spPr>
        <p:txBody>
          <a:bodyPr/>
          <a:lstStyle/>
          <a:p>
            <a:r>
              <a:rPr lang="en-US" dirty="0"/>
              <a:t>Preparing Data for Analysis and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53F7-66AC-CA39-8114-1D284A6B5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691" y="1746752"/>
            <a:ext cx="7796540" cy="399782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Datasets Used</a:t>
            </a:r>
          </a:p>
          <a:p>
            <a:pPr lvl="1"/>
            <a:r>
              <a:rPr lang="en-US" dirty="0"/>
              <a:t>SNOTEL</a:t>
            </a:r>
          </a:p>
          <a:p>
            <a:pPr lvl="2"/>
            <a:r>
              <a:rPr lang="en-US" dirty="0"/>
              <a:t>USDA NRCS</a:t>
            </a:r>
          </a:p>
          <a:p>
            <a:pPr lvl="2"/>
            <a:r>
              <a:rPr lang="en-US" dirty="0"/>
              <a:t>SWE</a:t>
            </a:r>
          </a:p>
          <a:p>
            <a:pPr lvl="1"/>
            <a:r>
              <a:rPr lang="en-US" dirty="0" err="1"/>
              <a:t>Daymet</a:t>
            </a:r>
            <a:endParaRPr lang="en-US" dirty="0"/>
          </a:p>
          <a:p>
            <a:pPr lvl="2"/>
            <a:r>
              <a:rPr lang="en-US" dirty="0"/>
              <a:t>Climate</a:t>
            </a:r>
          </a:p>
          <a:p>
            <a:pPr lvl="2"/>
            <a:r>
              <a:rPr lang="en-US" dirty="0"/>
              <a:t>Cooling Degree Month (CDM)</a:t>
            </a:r>
          </a:p>
          <a:p>
            <a:pPr lvl="3"/>
            <a:r>
              <a:rPr lang="en-US" dirty="0"/>
              <a:t>Taken from Sturm and Liston (2011)</a:t>
            </a:r>
          </a:p>
          <a:p>
            <a:pPr lvl="1"/>
            <a:r>
              <a:rPr lang="en-US" dirty="0"/>
              <a:t>SRTM</a:t>
            </a:r>
          </a:p>
          <a:p>
            <a:pPr lvl="2"/>
            <a:r>
              <a:rPr lang="en-US" dirty="0"/>
              <a:t>Elevation, slope, aspect</a:t>
            </a:r>
          </a:p>
          <a:p>
            <a:r>
              <a:rPr lang="en-US" dirty="0"/>
              <a:t>Resampling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BB270-F398-9A02-2A1A-99F1F0E7B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186" y="2024395"/>
            <a:ext cx="4960249" cy="37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4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180C-9A01-7FE5-9840-7A6ABEA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Spatial Autocorrelation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C4501-1F28-C1E7-2333-C6DCBC554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61" y="1430086"/>
            <a:ext cx="4341905" cy="5023266"/>
          </a:xfrm>
        </p:spPr>
        <p:txBody>
          <a:bodyPr/>
          <a:lstStyle/>
          <a:p>
            <a:r>
              <a:rPr lang="en-US" dirty="0"/>
              <a:t>Global Moran’s I and Local Moran’s I tests</a:t>
            </a:r>
          </a:p>
          <a:p>
            <a:r>
              <a:rPr lang="en-US" dirty="0"/>
              <a:t>Pseudo p-value of  ~ 0.22</a:t>
            </a:r>
          </a:p>
          <a:p>
            <a:r>
              <a:rPr lang="en-US" dirty="0"/>
              <a:t>LISA tests revealed approximately 45-80 significant points</a:t>
            </a:r>
          </a:p>
          <a:p>
            <a:r>
              <a:rPr lang="en-US" dirty="0"/>
              <a:t>All Covariates displayed global spatial autocorrelation (p-value &lt; 0.05, 999 permutations)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4CA7D-5574-82A8-2A84-2FE09036B7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5" t="1" r="15169" b="-2015"/>
          <a:stretch/>
        </p:blipFill>
        <p:spPr>
          <a:xfrm>
            <a:off x="5231404" y="1756468"/>
            <a:ext cx="5458750" cy="40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5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87BB-A444-57D9-1BD6-3019857F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7F68-D934-5BD9-82B0-657EF083D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366" y="1271752"/>
            <a:ext cx="5346693" cy="5118537"/>
          </a:xfrm>
        </p:spPr>
        <p:txBody>
          <a:bodyPr/>
          <a:lstStyle/>
          <a:p>
            <a:r>
              <a:rPr lang="en-US" dirty="0"/>
              <a:t>Machine learning method (</a:t>
            </a:r>
            <a:r>
              <a:rPr lang="en-US" dirty="0" err="1"/>
              <a:t>Breiman</a:t>
            </a:r>
            <a:r>
              <a:rPr lang="en-US" dirty="0"/>
              <a:t> 2001)</a:t>
            </a:r>
          </a:p>
          <a:p>
            <a:r>
              <a:rPr lang="en-US" dirty="0"/>
              <a:t>Decision tree-based</a:t>
            </a:r>
          </a:p>
          <a:p>
            <a:pPr lvl="1"/>
            <a:r>
              <a:rPr lang="en-US" dirty="0"/>
              <a:t>Averages decisions/values across multiple trees to create more robust prediction</a:t>
            </a:r>
          </a:p>
          <a:p>
            <a:pPr lvl="2"/>
            <a:r>
              <a:rPr lang="en-US"/>
              <a:t>Less overfitting</a:t>
            </a:r>
            <a:endParaRPr lang="en-US" dirty="0"/>
          </a:p>
          <a:p>
            <a:r>
              <a:rPr lang="en-US" dirty="0"/>
              <a:t>Regression and Classification</a:t>
            </a:r>
          </a:p>
          <a:p>
            <a:r>
              <a:rPr lang="en-US" dirty="0"/>
              <a:t>2 Main Parameters:</a:t>
            </a:r>
          </a:p>
          <a:p>
            <a:pPr lvl="1"/>
            <a:r>
              <a:rPr lang="en-US" dirty="0"/>
              <a:t>Number of Trees</a:t>
            </a:r>
          </a:p>
          <a:p>
            <a:pPr lvl="1"/>
            <a:r>
              <a:rPr lang="en-US" dirty="0"/>
              <a:t>Number of features evaluated at each split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D3EF2-8555-FC40-B754-E131503A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059" y="2050730"/>
            <a:ext cx="4899693" cy="275653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168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EA6F-B046-CEA0-5468-6AF0A7EB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535AF2-0AA5-E53A-E714-9B900297D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844289"/>
              </p:ext>
            </p:extLst>
          </p:nvPr>
        </p:nvGraphicFramePr>
        <p:xfrm>
          <a:off x="1726965" y="3663221"/>
          <a:ext cx="8393936" cy="282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484">
                  <a:extLst>
                    <a:ext uri="{9D8B030D-6E8A-4147-A177-3AD203B41FA5}">
                      <a16:colId xmlns:a16="http://schemas.microsoft.com/office/drawing/2014/main" val="2556055731"/>
                    </a:ext>
                  </a:extLst>
                </a:gridCol>
                <a:gridCol w="2098484">
                  <a:extLst>
                    <a:ext uri="{9D8B030D-6E8A-4147-A177-3AD203B41FA5}">
                      <a16:colId xmlns:a16="http://schemas.microsoft.com/office/drawing/2014/main" val="4109116230"/>
                    </a:ext>
                  </a:extLst>
                </a:gridCol>
                <a:gridCol w="2098484">
                  <a:extLst>
                    <a:ext uri="{9D8B030D-6E8A-4147-A177-3AD203B41FA5}">
                      <a16:colId xmlns:a16="http://schemas.microsoft.com/office/drawing/2014/main" val="1724868547"/>
                    </a:ext>
                  </a:extLst>
                </a:gridCol>
                <a:gridCol w="2098484">
                  <a:extLst>
                    <a:ext uri="{9D8B030D-6E8A-4147-A177-3AD203B41FA5}">
                      <a16:colId xmlns:a16="http://schemas.microsoft.com/office/drawing/2014/main" val="2917154736"/>
                    </a:ext>
                  </a:extLst>
                </a:gridCol>
              </a:tblGrid>
              <a:tr h="600888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Covariates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Target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RMSE on Test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475517"/>
                  </a:ext>
                </a:extLst>
              </a:tr>
              <a:tr h="34813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Mean Temp Summed CDM values, Summed </a:t>
                      </a:r>
                      <a:r>
                        <a:rPr lang="en-US" sz="1400" dirty="0" err="1"/>
                        <a:t>Precip</a:t>
                      </a:r>
                      <a:r>
                        <a:rPr lang="en-US" sz="1400" dirty="0"/>
                        <a:t> CDM Values, Mean Solar Radiation, Mean Min Temp, Mean Max Temp, Elevation, 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Peak 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262.518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113540"/>
                  </a:ext>
                </a:extLst>
              </a:tr>
              <a:tr h="600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Same as 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Log of Peak 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272.0743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706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536980-6382-F906-4D27-6EEC623A92AC}"/>
              </a:ext>
            </a:extLst>
          </p:cNvPr>
          <p:cNvSpPr txBox="1"/>
          <p:nvPr/>
        </p:nvSpPr>
        <p:spPr>
          <a:xfrm>
            <a:off x="1621861" y="1346670"/>
            <a:ext cx="8393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all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 or Summed covariates are averaged or summed from October 2009 – May 2010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Covariates determined using RMSE on test split (25%) of dataset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Final combination applied to both Peak SWE and Log of Peak SWE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Number of trees: 2000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Number of features tested at each node split: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 model predicts lower max SWE values, underestimates higher SWE values, inflating RMSE</a:t>
            </a:r>
          </a:p>
        </p:txBody>
      </p:sp>
    </p:spTree>
    <p:extLst>
      <p:ext uri="{BB962C8B-B14F-4D97-AF65-F5344CB8AC3E}">
        <p14:creationId xmlns:p14="http://schemas.microsoft.com/office/powerpoint/2010/main" val="419115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843-4787-5D7C-2AE6-B57395DC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Maps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021AEF-E094-BECC-ABF0-7EDD9C46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0" t="-269" r="12339" b="224"/>
          <a:stretch/>
        </p:blipFill>
        <p:spPr>
          <a:xfrm>
            <a:off x="6015948" y="1651895"/>
            <a:ext cx="5093485" cy="4233899"/>
          </a:xfrm>
          <a:prstGeom prst="rect">
            <a:avLst/>
          </a:prstGeom>
        </p:spPr>
      </p:pic>
      <p:pic>
        <p:nvPicPr>
          <p:cNvPr id="16" name="Content Placeholder 12">
            <a:extLst>
              <a:ext uri="{FF2B5EF4-FFF2-40B4-BE49-F238E27FC236}">
                <a16:creationId xmlns:a16="http://schemas.microsoft.com/office/drawing/2014/main" id="{10A4FB23-F589-7AE3-7AC4-43D13EF1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49" t="230" r="10892" b="644"/>
          <a:stretch/>
        </p:blipFill>
        <p:spPr>
          <a:xfrm>
            <a:off x="386229" y="1651895"/>
            <a:ext cx="5254559" cy="4223813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2F8E1CF-1A9B-1B9B-5E66-1F32F8BE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7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C002-ECDB-E062-69EA-63CA37FF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to Consider for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57CE-243B-9078-42CF-16246BDC1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background “zero-value” points</a:t>
            </a:r>
          </a:p>
          <a:p>
            <a:r>
              <a:rPr lang="en-US" dirty="0"/>
              <a:t>Trimming AOI</a:t>
            </a:r>
          </a:p>
          <a:p>
            <a:r>
              <a:rPr lang="en-US" dirty="0"/>
              <a:t>Alternative Modeling Methodologies</a:t>
            </a:r>
          </a:p>
          <a:p>
            <a:r>
              <a:rPr lang="en-US" dirty="0"/>
              <a:t>Scaling variables instead of using “raw” values</a:t>
            </a:r>
          </a:p>
        </p:txBody>
      </p:sp>
    </p:spTree>
    <p:extLst>
      <p:ext uri="{BB962C8B-B14F-4D97-AF65-F5344CB8AC3E}">
        <p14:creationId xmlns:p14="http://schemas.microsoft.com/office/powerpoint/2010/main" val="85775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4896-15D5-A10A-4BBF-E37E2C9C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69F45-9FAE-C11A-B4EB-E90587B2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400" dirty="0" err="1"/>
              <a:t>Breiman</a:t>
            </a:r>
            <a:r>
              <a:rPr lang="en-US" sz="2400" dirty="0"/>
              <a:t>, L. (2001). Random forests. Machine learning, 45, 5-32.</a:t>
            </a:r>
          </a:p>
          <a:p>
            <a:r>
              <a:rPr lang="en-US" sz="2400" dirty="0"/>
              <a:t>Elder, K., Dozier, J., &amp; Michaelsen, J. (1991). Snow accumulation and distribution in an Alpine Watershed. Water Resources Research, 27(7), 1541–1552. https://</a:t>
            </a:r>
            <a:r>
              <a:rPr lang="en-US" sz="2400" dirty="0" err="1"/>
              <a:t>doi.org</a:t>
            </a:r>
            <a:r>
              <a:rPr lang="en-US" sz="2400" dirty="0"/>
              <a:t>/10.1029/91WR00506</a:t>
            </a:r>
          </a:p>
          <a:p>
            <a:r>
              <a:rPr lang="en-US" sz="2400" dirty="0"/>
              <a:t>Farr, T.G., Rosen, P.A., Caro, E., Crippen, R., Duren, R., Hensley, S., </a:t>
            </a:r>
            <a:r>
              <a:rPr lang="en-US" sz="2400" dirty="0" err="1"/>
              <a:t>Kobrick</a:t>
            </a:r>
            <a:r>
              <a:rPr lang="en-US" sz="2400" dirty="0"/>
              <a:t>, M., Paller, M., Rodriguez, E., Roth, L., Seal, D., Shaffer, S., Shimada, J., Umland, J., Werner, M., Oskin, M., Burbank, D., and </a:t>
            </a:r>
            <a:r>
              <a:rPr lang="en-US" sz="2400" dirty="0" err="1"/>
              <a:t>Alsdorf</a:t>
            </a:r>
            <a:r>
              <a:rPr lang="en-US" sz="2400" dirty="0"/>
              <a:t>, D.E., (2007). The shuttle radar topography mission: Reviews of Geophysics, v. 45, no. 2, RG2004, at https://</a:t>
            </a:r>
            <a:r>
              <a:rPr lang="en-US" sz="2400" dirty="0" err="1"/>
              <a:t>doi.org</a:t>
            </a:r>
            <a:r>
              <a:rPr lang="en-US" sz="2400" dirty="0"/>
              <a:t>/10.1029/2005RG000183.</a:t>
            </a:r>
          </a:p>
          <a:p>
            <a:r>
              <a:rPr lang="en-US" sz="2400" dirty="0" err="1"/>
              <a:t>Fierz</a:t>
            </a:r>
            <a:r>
              <a:rPr lang="en-US" sz="2400" dirty="0"/>
              <a:t>, C., Armstrong, R.L., Durand, Y., </a:t>
            </a:r>
            <a:r>
              <a:rPr lang="en-US" sz="2400" dirty="0" err="1"/>
              <a:t>Etchevers</a:t>
            </a:r>
            <a:r>
              <a:rPr lang="en-US" sz="2400" dirty="0"/>
              <a:t>, P., Greene, E., McClung, D.M., Nishimura, K., </a:t>
            </a:r>
            <a:r>
              <a:rPr lang="en-US" sz="2400" dirty="0" err="1"/>
              <a:t>Satyawali</a:t>
            </a:r>
            <a:r>
              <a:rPr lang="en-US" sz="2400" dirty="0"/>
              <a:t>, P.K. and </a:t>
            </a:r>
            <a:r>
              <a:rPr lang="en-US" sz="2400" dirty="0" err="1"/>
              <a:t>Sokratov</a:t>
            </a:r>
            <a:r>
              <a:rPr lang="en-US" sz="2400" dirty="0"/>
              <a:t>, S.A. 2009. The International Classification for Seasonal Snow on the Ground. IHP-VII Technical Documents in Hydrology N°83, IACS Contribution N°1, UNESCO-IHP, Paris.</a:t>
            </a:r>
          </a:p>
          <a:p>
            <a:r>
              <a:rPr lang="en-US" sz="2400" dirty="0"/>
              <a:t>Hale, K. E., Jennings, K. S., Musselman, K. N., </a:t>
            </a:r>
            <a:r>
              <a:rPr lang="en-US" sz="2400" dirty="0" err="1"/>
              <a:t>Livneh</a:t>
            </a:r>
            <a:r>
              <a:rPr lang="en-US" sz="2400" dirty="0"/>
              <a:t>, B., &amp; </a:t>
            </a:r>
            <a:r>
              <a:rPr lang="en-US" sz="2400" dirty="0" err="1"/>
              <a:t>Molotch</a:t>
            </a:r>
            <a:r>
              <a:rPr lang="en-US" sz="2400" dirty="0"/>
              <a:t>, N. P. (2023). Recent decreases in snow water storage in western North America. Communications Earth &amp; Environment, 4(1), 170. https://</a:t>
            </a:r>
            <a:r>
              <a:rPr lang="en-US" sz="2400" dirty="0" err="1"/>
              <a:t>doi.org</a:t>
            </a:r>
            <a:r>
              <a:rPr lang="en-US" sz="2400" dirty="0"/>
              <a:t>/10.1038/s43247-023-00751-3</a:t>
            </a:r>
          </a:p>
          <a:p>
            <a:r>
              <a:rPr lang="en-US" sz="2400" dirty="0" err="1"/>
              <a:t>Hufkens</a:t>
            </a:r>
            <a:r>
              <a:rPr lang="en-US" sz="2400" dirty="0"/>
              <a:t>, K. (2022). </a:t>
            </a:r>
            <a:r>
              <a:rPr lang="en-US" sz="2400" dirty="0" err="1"/>
              <a:t>snotelr</a:t>
            </a:r>
            <a:r>
              <a:rPr lang="en-US" sz="2400" dirty="0"/>
              <a:t>: a toolbox to facilitate easy SNOTEL data exploration and downloads in R. </a:t>
            </a:r>
            <a:r>
              <a:rPr lang="en-US" sz="2400" dirty="0" err="1"/>
              <a:t>Zenodo</a:t>
            </a:r>
            <a:r>
              <a:rPr lang="en-US" sz="2400" dirty="0"/>
              <a:t>. https://</a:t>
            </a:r>
            <a:r>
              <a:rPr lang="en-US" sz="2400" dirty="0" err="1"/>
              <a:t>doi.org</a:t>
            </a:r>
            <a:r>
              <a:rPr lang="en-US" sz="2400" dirty="0"/>
              <a:t>/10.5281/zenodo.7012728.</a:t>
            </a:r>
          </a:p>
          <a:p>
            <a:r>
              <a:rPr lang="en-US" sz="2400" dirty="0" err="1"/>
              <a:t>Molotch</a:t>
            </a:r>
            <a:r>
              <a:rPr lang="en-US" sz="2400" dirty="0"/>
              <a:t>, N. P., &amp; Bales, R. C. (2006). SNOTEL representativeness in the Rio Grande headwaters on the basis of </a:t>
            </a:r>
            <a:r>
              <a:rPr lang="en-US" sz="2400" dirty="0" err="1"/>
              <a:t>physiographics</a:t>
            </a:r>
            <a:r>
              <a:rPr lang="en-US" sz="2400" dirty="0"/>
              <a:t> and remotely sensed snow cover persistence. Hydrological Processes, 20(4), 723–739. </a:t>
            </a:r>
            <a:r>
              <a:rPr lang="en-US" sz="2400" dirty="0">
                <a:hlinkClick r:id="rId2"/>
              </a:rPr>
              <a:t>https://doi.org/10.1002/hyp.6128</a:t>
            </a:r>
            <a:endParaRPr lang="en-US" sz="2400" dirty="0"/>
          </a:p>
          <a:p>
            <a:r>
              <a:rPr lang="en-US" sz="2400" dirty="0"/>
              <a:t>Musselman, K. N., </a:t>
            </a:r>
            <a:r>
              <a:rPr lang="en-US" sz="2400" dirty="0" err="1"/>
              <a:t>Molotch</a:t>
            </a:r>
            <a:r>
              <a:rPr lang="en-US" sz="2400" dirty="0"/>
              <a:t>, N. P., &amp; Margulis, S. A. (2017). Snowmelt response to simulated warming across a large elevation gradient, southern Sierra Nevada, California. The Cryosphere, 11(6), 2847–2866. https://</a:t>
            </a:r>
            <a:r>
              <a:rPr lang="en-US" sz="2400" dirty="0" err="1"/>
              <a:t>doi.org</a:t>
            </a:r>
            <a:r>
              <a:rPr lang="en-US" sz="2400" dirty="0"/>
              <a:t>/10.5194/tc-11-2847-2017</a:t>
            </a:r>
          </a:p>
          <a:p>
            <a:r>
              <a:rPr lang="en-US" sz="2400" dirty="0"/>
              <a:t>Qin, Y., </a:t>
            </a:r>
            <a:r>
              <a:rPr lang="en-US" sz="2400" dirty="0" err="1"/>
              <a:t>Abatzoglou</a:t>
            </a:r>
            <a:r>
              <a:rPr lang="en-US" sz="2400" dirty="0"/>
              <a:t>, J. T., Siebert, S., Huning, L. S., </a:t>
            </a:r>
            <a:r>
              <a:rPr lang="en-US" sz="2400" dirty="0" err="1"/>
              <a:t>AghaKouchak</a:t>
            </a:r>
            <a:r>
              <a:rPr lang="en-US" sz="2400" dirty="0"/>
              <a:t>, A., Mankin, J. S., Hong, C., Tong, D., Davis, S. J., &amp; Mueller, N. D. (2020). Agricultural risks from changing snowmelt. Nature Climate Change, 10(5), 459–465. https://</a:t>
            </a:r>
            <a:r>
              <a:rPr lang="en-US" sz="2400" dirty="0" err="1"/>
              <a:t>doi.org</a:t>
            </a:r>
            <a:r>
              <a:rPr lang="en-US" sz="2400" dirty="0"/>
              <a:t>/10.1038/s41558-020-0746-8</a:t>
            </a:r>
          </a:p>
          <a:p>
            <a:r>
              <a:rPr lang="en-US" sz="2400" dirty="0" err="1"/>
              <a:t>Siirila</a:t>
            </a:r>
            <a:r>
              <a:rPr lang="en-US" sz="2400" dirty="0"/>
              <a:t>-Woodburn, E. R., Rhoades, A. M., Hatchett, B. J., Huning, L. S., </a:t>
            </a:r>
            <a:r>
              <a:rPr lang="en-US" sz="2400" dirty="0" err="1"/>
              <a:t>Szinai</a:t>
            </a:r>
            <a:r>
              <a:rPr lang="en-US" sz="2400" dirty="0"/>
              <a:t>, J., Tague, C., Nico, P. S., Feldman, D. R., Jones, A. D., Collins, W. D., &amp; </a:t>
            </a:r>
            <a:r>
              <a:rPr lang="en-US" sz="2400" dirty="0" err="1"/>
              <a:t>Kaatz</a:t>
            </a:r>
            <a:r>
              <a:rPr lang="en-US" sz="2400" dirty="0"/>
              <a:t>, L. (2021). A low-to-no snow future and its impacts on water resources in the western United States. Nature Reviews Earth &amp; Environment, 2(11), 800–819. https://</a:t>
            </a:r>
            <a:r>
              <a:rPr lang="en-US" sz="2400" dirty="0" err="1"/>
              <a:t>doi.org</a:t>
            </a:r>
            <a:r>
              <a:rPr lang="en-US" sz="2400" dirty="0"/>
              <a:t>/10.1038/s43017-021-00219-y</a:t>
            </a:r>
          </a:p>
          <a:p>
            <a:r>
              <a:rPr lang="en-US" sz="2400" dirty="0"/>
              <a:t>Sturm, M., &amp; Liston, G. E. (2021). Revisiting the Global Seasonal Snow Classification: An Updated Dataset for Earth System Applications. Journal of Hydrometeorology. https://</a:t>
            </a:r>
            <a:r>
              <a:rPr lang="en-US" sz="2400" dirty="0" err="1"/>
              <a:t>doi.org</a:t>
            </a:r>
            <a:r>
              <a:rPr lang="en-US" sz="2400" dirty="0"/>
              <a:t>/10.1175/JHM-D-21-0070.1</a:t>
            </a:r>
          </a:p>
          <a:p>
            <a:r>
              <a:rPr lang="en-US" sz="2400" dirty="0"/>
              <a:t>Thornton, M.M., R. Shrestha, Y. Wei, P.E. Thornton, S-C. Kao, and B.E. Wilson. (2022). </a:t>
            </a:r>
            <a:r>
              <a:rPr lang="en-US" sz="2400" dirty="0" err="1"/>
              <a:t>Daymet</a:t>
            </a:r>
            <a:r>
              <a:rPr lang="en-US" sz="2400" dirty="0"/>
              <a:t>: Daily Surface Weather Data on a 1-km Grid for North America, Version 4 R1. ORNL DAAC, Oak Ridge, Tennessee, USA. https://</a:t>
            </a:r>
            <a:r>
              <a:rPr lang="en-US" sz="2400" dirty="0" err="1"/>
              <a:t>doi.org</a:t>
            </a:r>
            <a:r>
              <a:rPr lang="en-US" sz="2400" dirty="0"/>
              <a:t>/10.3334/ORNLDAAC/2129</a:t>
            </a:r>
          </a:p>
          <a:p>
            <a:r>
              <a:rPr lang="en-US" sz="2400" dirty="0">
                <a:effectLst/>
              </a:rPr>
              <a:t>Fleming, S. W., </a:t>
            </a:r>
            <a:r>
              <a:rPr lang="en-US" sz="2400" dirty="0" err="1">
                <a:effectLst/>
              </a:rPr>
              <a:t>Zukiewicz</a:t>
            </a:r>
            <a:r>
              <a:rPr lang="en-US" sz="2400" dirty="0">
                <a:effectLst/>
              </a:rPr>
              <a:t>, L., Strobel, M. L., Hofman, H., &amp; Goodbody, A. G. (2023). SNOTEL, the Soil Climate Analysis Network, and water supply forecasting at the Natural Resources Conservation Service: Past, present, and future. </a:t>
            </a:r>
            <a:r>
              <a:rPr lang="en-US" sz="2400" i="1" dirty="0">
                <a:effectLst/>
              </a:rPr>
              <a:t>JAWRA Journal of the American Water Resources Association</a:t>
            </a:r>
            <a:r>
              <a:rPr lang="en-US" sz="2400" dirty="0">
                <a:effectLst/>
              </a:rPr>
              <a:t>, </a:t>
            </a:r>
            <a:r>
              <a:rPr lang="en-US" sz="2400" i="1" dirty="0">
                <a:effectLst/>
              </a:rPr>
              <a:t>59</a:t>
            </a:r>
            <a:r>
              <a:rPr lang="en-US" sz="2400" dirty="0">
                <a:effectLst/>
              </a:rPr>
              <a:t>(4), 585–599. </a:t>
            </a:r>
            <a:r>
              <a:rPr lang="en-US" sz="2400" dirty="0">
                <a:effectLst/>
                <a:hlinkClick r:id="rId3"/>
              </a:rPr>
              <a:t>https://doi.org/10.1111/1752-1688.13104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61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{8755D1EC-AF32-224F-9676-7D45810E63DA}tf16401378</Template>
  <TotalTime>1312</TotalTime>
  <Words>1129</Words>
  <Application>Microsoft Macintosh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Random Forest Modeling of Peak Snow Water Equivalent (SWE) in Water Year 2010 for the Conterminous U.S.</vt:lpstr>
      <vt:lpstr>Why does this matter?</vt:lpstr>
      <vt:lpstr>Preparing Data for Analysis and Modeling</vt:lpstr>
      <vt:lpstr>Evaluating Spatial Autocorrelation</vt:lpstr>
      <vt:lpstr>Random Forest</vt:lpstr>
      <vt:lpstr>Results</vt:lpstr>
      <vt:lpstr>Results Maps</vt:lpstr>
      <vt:lpstr>Factors to Consider for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Griffin Shelor</dc:creator>
  <cp:lastModifiedBy>Griffin Shelor</cp:lastModifiedBy>
  <cp:revision>32</cp:revision>
  <dcterms:created xsi:type="dcterms:W3CDTF">2024-12-02T05:18:50Z</dcterms:created>
  <dcterms:modified xsi:type="dcterms:W3CDTF">2024-12-16T05:14:46Z</dcterms:modified>
</cp:coreProperties>
</file>