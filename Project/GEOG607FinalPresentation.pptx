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86" r:id="rId1"/>
  </p:sldMasterIdLst>
  <p:sldIdLst>
    <p:sldId id="256" r:id="rId2"/>
    <p:sldId id="261" r:id="rId3"/>
    <p:sldId id="262" r:id="rId4"/>
    <p:sldId id="257" r:id="rId5"/>
    <p:sldId id="258" r:id="rId6"/>
    <p:sldId id="259" r:id="rId7"/>
    <p:sldId id="263" r:id="rId8"/>
    <p:sldId id="265" r:id="rId9"/>
    <p:sldId id="264" r:id="rId10"/>
    <p:sldId id="260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>
      <p:cViewPr varScale="1">
        <p:scale>
          <a:sx n="121" d="100"/>
          <a:sy n="121" d="100"/>
        </p:scale>
        <p:origin x="7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007533" y="0"/>
            <a:ext cx="7934348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8941881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11808" y="3428998"/>
            <a:ext cx="5518066" cy="2268559"/>
          </a:xfrm>
        </p:spPr>
        <p:txBody>
          <a:bodyPr anchor="t">
            <a:normAutofit/>
          </a:bodyPr>
          <a:lstStyle>
            <a:lvl1pPr algn="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772274" y="2268786"/>
            <a:ext cx="5357600" cy="1160213"/>
          </a:xfrm>
        </p:spPr>
        <p:txBody>
          <a:bodyPr tIns="0" anchor="b">
            <a:normAutofit/>
          </a:bodyPr>
          <a:lstStyle>
            <a:lvl1pPr marL="0" indent="0" algn="r">
              <a:buNone/>
              <a:defRPr sz="18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0327BE-B17A-0D4C-89C0-F3A8EA9CD20B}" type="datetimeFigureOut">
              <a:rPr lang="en-US" smtClean="0"/>
              <a:t>12/15/24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rIns="45720"/>
          <a:lstStyle/>
          <a:p>
            <a:fld id="{6BBA9FD4-A52B-D24C-8819-1E17F6DEE6D5}" type="slidenum">
              <a:rPr lang="en-US" smtClean="0"/>
              <a:t>‹#›</a:t>
            </a:fld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2191282" y="3262852"/>
            <a:ext cx="4156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24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7362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0327BE-B17A-0D4C-89C0-F3A8EA9CD20B}" type="datetimeFigureOut">
              <a:rPr lang="en-US" smtClean="0"/>
              <a:t>12/15/24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BA9FD4-A52B-D24C-8819-1E17F6DEE6D5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2194943" y="641225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068859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5" name="Rectangle 24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TextBox 10"/>
          <p:cNvSpPr txBox="1"/>
          <p:nvPr/>
        </p:nvSpPr>
        <p:spPr>
          <a:xfrm>
            <a:off x="2191843" y="2962586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9873" y="3147254"/>
            <a:ext cx="7956560" cy="1424746"/>
          </a:xfrm>
        </p:spPr>
        <p:txBody>
          <a:bodyPr anchor="t">
            <a:normAutofit/>
          </a:bodyPr>
          <a:lstStyle>
            <a:lvl1pPr algn="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73968" y="2268786"/>
            <a:ext cx="7791931" cy="878468"/>
          </a:xfrm>
        </p:spPr>
        <p:txBody>
          <a:bodyPr tIns="0" anchor="b">
            <a:norm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0327BE-B17A-0D4C-89C0-F3A8EA9CD20B}" type="datetimeFigureOut">
              <a:rPr lang="en-US" smtClean="0"/>
              <a:t>12/15/24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BA9FD4-A52B-D24C-8819-1E17F6DEE6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61501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7" name="Rectangle 26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9873" y="805817"/>
            <a:ext cx="7950984" cy="10817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605374" y="2052116"/>
            <a:ext cx="3891960" cy="3997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66636" y="2052114"/>
            <a:ext cx="3894222" cy="399782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0327BE-B17A-0D4C-89C0-F3A8EA9CD20B}" type="datetimeFigureOut">
              <a:rPr lang="en-US" smtClean="0"/>
              <a:t>12/15/24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BA9FD4-A52B-D24C-8819-1E17F6DEE6D5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2196172" y="641223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01441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1" name="Rectangle 20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TextBox 11"/>
          <p:cNvSpPr txBox="1"/>
          <p:nvPr/>
        </p:nvSpPr>
        <p:spPr>
          <a:xfrm>
            <a:off x="2193650" y="636424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9873" y="805818"/>
            <a:ext cx="7956560" cy="107834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09285" y="2052115"/>
            <a:ext cx="3896467" cy="713818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none" baseline="0">
                <a:solidFill>
                  <a:schemeClr val="accent6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609285" y="2851331"/>
            <a:ext cx="3893623" cy="307143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666634" y="2052115"/>
            <a:ext cx="3899798" cy="713818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none" baseline="0">
                <a:solidFill>
                  <a:schemeClr val="accent6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66635" y="2851331"/>
            <a:ext cx="3899798" cy="307143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0327BE-B17A-0D4C-89C0-F3A8EA9CD20B}" type="datetimeFigureOut">
              <a:rPr lang="en-US" smtClean="0"/>
              <a:t>12/15/24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BA9FD4-A52B-D24C-8819-1E17F6DEE6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67703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4" name="Rectangle 13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0327BE-B17A-0D4C-89C0-F3A8EA9CD20B}" type="datetimeFigureOut">
              <a:rPr lang="en-US" smtClean="0"/>
              <a:t>12/15/24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BA9FD4-A52B-D24C-8819-1E17F6DEE6D5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2196172" y="641226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66073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0327BE-B17A-0D4C-89C0-F3A8EA9CD20B}" type="datetimeFigureOut">
              <a:rPr lang="en-US" smtClean="0"/>
              <a:t>12/15/24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BA9FD4-A52B-D24C-8819-1E17F6DEE6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84601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6" name="Rectangle 25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TextBox 9"/>
          <p:cNvSpPr txBox="1"/>
          <p:nvPr/>
        </p:nvSpPr>
        <p:spPr>
          <a:xfrm>
            <a:off x="1554154" y="1127550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70323" y="1282451"/>
            <a:ext cx="2664361" cy="1903241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20154" y="805818"/>
            <a:ext cx="5446278" cy="52441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70322" y="3186154"/>
            <a:ext cx="2664361" cy="2386397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0327BE-B17A-0D4C-89C0-F3A8EA9CD20B}" type="datetimeFigureOut">
              <a:rPr lang="en-US" smtClean="0"/>
              <a:t>12/15/24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BA9FD4-A52B-D24C-8819-1E17F6DEE6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80105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0" name="Rectangle 19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47062" y="3229"/>
            <a:ext cx="4629734" cy="6858000"/>
          </a:xfrm>
          <a:solidFill>
            <a:schemeClr val="tx1">
              <a:alpha val="10000"/>
            </a:schemeClr>
          </a:solidFill>
          <a:ln w="9525" cap="sq">
            <a:noFill/>
            <a:miter lim="800000"/>
          </a:ln>
          <a:effectLst/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1554686" y="1127550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71241" y="1282452"/>
            <a:ext cx="3970986" cy="1900473"/>
          </a:xfrm>
        </p:spPr>
        <p:txBody>
          <a:bodyPr anchor="b">
            <a:normAutofit/>
          </a:bodyPr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70322" y="3182928"/>
            <a:ext cx="3971874" cy="2386394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0327BE-B17A-0D4C-89C0-F3A8EA9CD20B}" type="datetimeFigureOut">
              <a:rPr lang="en-US" smtClean="0"/>
              <a:t>12/15/24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BA9FD4-A52B-D24C-8819-1E17F6DEE6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1556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extBox 8"/>
          <p:cNvSpPr txBox="1"/>
          <p:nvPr/>
        </p:nvSpPr>
        <p:spPr>
          <a:xfrm>
            <a:off x="2194236" y="641225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11808" y="808056"/>
            <a:ext cx="7954091" cy="107722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0327BE-B17A-0D4C-89C0-F3A8EA9CD20B}" type="datetimeFigureOut">
              <a:rPr lang="en-US" smtClean="0"/>
              <a:t>12/15/24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BA9FD4-A52B-D24C-8819-1E17F6DEE6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48701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6" name="Rectangle 15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extBox 8"/>
          <p:cNvSpPr txBox="1"/>
          <p:nvPr/>
        </p:nvSpPr>
        <p:spPr>
          <a:xfrm rot="5400000">
            <a:off x="10337141" y="416061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39380" y="805818"/>
            <a:ext cx="1326519" cy="5244126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608751" y="970410"/>
            <a:ext cx="6466903" cy="507953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0327BE-B17A-0D4C-89C0-F3A8EA9CD20B}" type="datetimeFigureOut">
              <a:rPr lang="en-US" smtClean="0"/>
              <a:t>12/15/24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BA9FD4-A52B-D24C-8819-1E17F6DEE6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8651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1794" y="2105202"/>
            <a:ext cx="9360205" cy="4752798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9867" cy="6858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0"/>
            <a:ext cx="964174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611808" y="808056"/>
            <a:ext cx="7958331" cy="107722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73599" y="2052116"/>
            <a:ext cx="7796540" cy="3997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-810065" y="5270604"/>
            <a:ext cx="2662729" cy="182880"/>
          </a:xfrm>
          <a:prstGeom prst="rect">
            <a:avLst/>
          </a:prstGeom>
        </p:spPr>
        <p:txBody>
          <a:bodyPr vert="horz" lIns="91440" tIns="18288" rIns="91440" bIns="45720" rtlCol="0" anchor="t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fld id="{F80327BE-B17A-0D4C-89C0-F3A8EA9CD20B}" type="datetimeFigureOut">
              <a:rPr lang="en-US" smtClean="0"/>
              <a:t>12/15/24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-2237130" y="3661144"/>
            <a:ext cx="5885352" cy="179176"/>
          </a:xfrm>
          <a:prstGeom prst="rect">
            <a:avLst/>
          </a:prstGeom>
        </p:spPr>
        <p:txBody>
          <a:bodyPr vert="horz" lIns="91440" tIns="45720" rIns="91440" bIns="18288" rtlCol="0" anchor="b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8407" y="164592"/>
            <a:ext cx="636727" cy="322851"/>
          </a:xfrm>
          <a:prstGeom prst="rect">
            <a:avLst/>
          </a:prstGeom>
        </p:spPr>
        <p:txBody>
          <a:bodyPr vert="horz" lIns="91440" tIns="45720" rIns="45720" bIns="45720" rtlCol="0" anchor="ctr"/>
          <a:lstStyle>
            <a:lvl1pPr algn="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BA9FD4-A52B-D24C-8819-1E17F6DEE6D5}" type="slidenum">
              <a:rPr lang="en-US" smtClean="0"/>
              <a:t>‹#›</a:t>
            </a:fld>
            <a:endParaRPr lang="en-US"/>
          </a:p>
        </p:txBody>
      </p:sp>
      <p:sp>
        <p:nvSpPr>
          <p:cNvPr id="57" name="Rectangle 56"/>
          <p:cNvSpPr/>
          <p:nvPr/>
        </p:nvSpPr>
        <p:spPr>
          <a:xfrm>
            <a:off x="962042" y="0"/>
            <a:ext cx="45719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67604844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87" r:id="rId1"/>
    <p:sldLayoutId id="2147483788" r:id="rId2"/>
    <p:sldLayoutId id="2147483789" r:id="rId3"/>
    <p:sldLayoutId id="2147483790" r:id="rId4"/>
    <p:sldLayoutId id="2147483791" r:id="rId5"/>
    <p:sldLayoutId id="2147483792" r:id="rId6"/>
    <p:sldLayoutId id="2147483793" r:id="rId7"/>
    <p:sldLayoutId id="2147483794" r:id="rId8"/>
    <p:sldLayoutId id="2147483795" r:id="rId9"/>
    <p:sldLayoutId id="2147483796" r:id="rId10"/>
    <p:sldLayoutId id="2147483797" r:id="rId11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3400" b="0" i="0" kern="1200" cap="none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344488" indent="-344488" algn="l" defTabSz="914400" rtl="0" eaLnBrk="1" latinLnBrk="0" hangingPunct="1">
        <a:lnSpc>
          <a:spcPct val="120000"/>
        </a:lnSpc>
        <a:spcBef>
          <a:spcPts val="10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95338" indent="-33813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800" kern="120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58888" indent="-34448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709738" indent="-33813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400" kern="120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173288" indent="-34448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642616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3108960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575304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4041648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111/1752-1688.13104" TargetMode="External"/><Relationship Id="rId2" Type="http://schemas.openxmlformats.org/officeDocument/2006/relationships/hyperlink" Target="https://doi.org/10.1002/hyp.6128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B31F0B-BAC0-039F-A330-F2706E20C5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073167"/>
            <a:ext cx="8983717" cy="2014678"/>
          </a:xfrm>
        </p:spPr>
        <p:txBody>
          <a:bodyPr>
            <a:normAutofit fontScale="90000"/>
          </a:bodyPr>
          <a:lstStyle/>
          <a:p>
            <a:r>
              <a:rPr lang="en-US" dirty="0"/>
              <a:t>Random Forest Modeling of Peak Snow Water Equivalent (SWE) in Water Year 2010 for the Conterminous U.S.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6C6B2E-9E81-4690-2946-6C9DBF7E99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405" y="5064538"/>
            <a:ext cx="5357600" cy="1160213"/>
          </a:xfrm>
        </p:spPr>
        <p:txBody>
          <a:bodyPr/>
          <a:lstStyle/>
          <a:p>
            <a:r>
              <a:rPr lang="en-US" dirty="0"/>
              <a:t>Griffin Shelor</a:t>
            </a:r>
          </a:p>
        </p:txBody>
      </p:sp>
    </p:spTree>
    <p:extLst>
      <p:ext uri="{BB962C8B-B14F-4D97-AF65-F5344CB8AC3E}">
        <p14:creationId xmlns:p14="http://schemas.microsoft.com/office/powerpoint/2010/main" val="30680433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770EB3-E264-53B1-1D1B-7001791E58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does this matter?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C2171F-18C2-5923-6EC9-54B5BED1B6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87559" y="1702676"/>
            <a:ext cx="2382579" cy="4347268"/>
          </a:xfrm>
        </p:spPr>
        <p:txBody>
          <a:bodyPr/>
          <a:lstStyle/>
          <a:p>
            <a:r>
              <a:rPr lang="en-US" dirty="0"/>
              <a:t>Importance of  Water to Western U.S.</a:t>
            </a:r>
          </a:p>
          <a:p>
            <a:r>
              <a:rPr lang="en-US" dirty="0"/>
              <a:t>Large percentage of precipitation in the western US falls as snow</a:t>
            </a:r>
          </a:p>
          <a:p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2015358-1CE3-BDF0-EC98-37011285B86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284" t="201" r="6810" b="-1"/>
          <a:stretch/>
        </p:blipFill>
        <p:spPr>
          <a:xfrm>
            <a:off x="746234" y="1460937"/>
            <a:ext cx="6894787" cy="52196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99033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B5500C-55A3-D64A-28F8-A7F7D15FCE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76691" y="588661"/>
            <a:ext cx="7958331" cy="1077229"/>
          </a:xfrm>
        </p:spPr>
        <p:txBody>
          <a:bodyPr/>
          <a:lstStyle/>
          <a:p>
            <a:r>
              <a:rPr lang="en-US" dirty="0"/>
              <a:t>Preparing Data for Analysis and Modeling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3A53F7-66AC-CA39-8114-1D284A6B5E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76691" y="1746752"/>
            <a:ext cx="7796540" cy="3997828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Datasets Used</a:t>
            </a:r>
          </a:p>
          <a:p>
            <a:pPr lvl="1"/>
            <a:r>
              <a:rPr lang="en-US" dirty="0"/>
              <a:t>SNOTEL</a:t>
            </a:r>
          </a:p>
          <a:p>
            <a:pPr lvl="2"/>
            <a:r>
              <a:rPr lang="en-US" dirty="0"/>
              <a:t>USDA NRCS</a:t>
            </a:r>
          </a:p>
          <a:p>
            <a:pPr lvl="2"/>
            <a:r>
              <a:rPr lang="en-US" dirty="0"/>
              <a:t>SWE</a:t>
            </a:r>
          </a:p>
          <a:p>
            <a:pPr lvl="1"/>
            <a:r>
              <a:rPr lang="en-US" dirty="0" err="1"/>
              <a:t>Daymet</a:t>
            </a:r>
            <a:endParaRPr lang="en-US" dirty="0"/>
          </a:p>
          <a:p>
            <a:pPr lvl="2"/>
            <a:r>
              <a:rPr lang="en-US" dirty="0"/>
              <a:t>Climate</a:t>
            </a:r>
          </a:p>
          <a:p>
            <a:pPr lvl="2"/>
            <a:r>
              <a:rPr lang="en-US" dirty="0"/>
              <a:t>Cooling Degree Month (CDM)</a:t>
            </a:r>
          </a:p>
          <a:p>
            <a:pPr lvl="3"/>
            <a:r>
              <a:rPr lang="en-US" dirty="0"/>
              <a:t>Taken from Sturm and Liston (2011)</a:t>
            </a:r>
          </a:p>
          <a:p>
            <a:pPr lvl="1"/>
            <a:r>
              <a:rPr lang="en-US" dirty="0"/>
              <a:t>SRTM</a:t>
            </a:r>
          </a:p>
          <a:p>
            <a:pPr lvl="2"/>
            <a:r>
              <a:rPr lang="en-US" dirty="0"/>
              <a:t>Elevation, slope, aspect</a:t>
            </a:r>
          </a:p>
          <a:p>
            <a:r>
              <a:rPr lang="en-US" dirty="0"/>
              <a:t>Resampling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EEBB270-F398-9A02-2A1A-99F1F0E7B7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5186" y="2024395"/>
            <a:ext cx="4960249" cy="37201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64478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1180C-9A01-7FE5-9840-7A6ABEABB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Evaluating Spatial Autocorrelation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CC4501-1F28-C1E7-2333-C6DCBC5543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07861" y="1430086"/>
            <a:ext cx="4341905" cy="5023266"/>
          </a:xfrm>
        </p:spPr>
        <p:txBody>
          <a:bodyPr/>
          <a:lstStyle/>
          <a:p>
            <a:r>
              <a:rPr lang="en-US" dirty="0"/>
              <a:t>Global Moran’s I and Local Moran’s I tests</a:t>
            </a:r>
          </a:p>
          <a:p>
            <a:r>
              <a:rPr lang="en-US" dirty="0"/>
              <a:t>Pseudo p-value of  ~ 0.22</a:t>
            </a:r>
          </a:p>
          <a:p>
            <a:r>
              <a:rPr lang="en-US" dirty="0"/>
              <a:t>LISA tests revealed approximately 45-80 significant points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F54CA7D-5574-82A8-2A84-2FE09036B73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535" t="1" r="15169" b="-2015"/>
          <a:stretch/>
        </p:blipFill>
        <p:spPr>
          <a:xfrm>
            <a:off x="5231404" y="1756468"/>
            <a:ext cx="5458750" cy="40137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99524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587BB-A444-57D9-1BD6-3019857FA4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Random Forest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2B7F68-D934-5BD9-82B0-657EF083DA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Machine learning method (</a:t>
            </a:r>
            <a:r>
              <a:rPr lang="en-US" dirty="0" err="1"/>
              <a:t>Breiman</a:t>
            </a:r>
            <a:r>
              <a:rPr lang="en-US" dirty="0"/>
              <a:t> 2001)</a:t>
            </a:r>
          </a:p>
          <a:p>
            <a:r>
              <a:rPr lang="en-US" dirty="0"/>
              <a:t>Decision tree-based</a:t>
            </a:r>
          </a:p>
          <a:p>
            <a:r>
              <a:rPr lang="en-US" dirty="0"/>
              <a:t>Regression and Classification</a:t>
            </a:r>
          </a:p>
          <a:p>
            <a:r>
              <a:rPr lang="en-US" dirty="0"/>
              <a:t>2 Main Parameters:</a:t>
            </a:r>
          </a:p>
          <a:p>
            <a:pPr lvl="1"/>
            <a:r>
              <a:rPr lang="en-US" dirty="0"/>
              <a:t>Number of Trees</a:t>
            </a:r>
          </a:p>
          <a:p>
            <a:pPr lvl="1"/>
            <a:r>
              <a:rPr lang="en-US" dirty="0"/>
              <a:t>Number of features evaluated at each split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16849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A3EA6F-B046-CEA0-5468-6AF0A7EB55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B2535AF2-0AA5-E53A-E714-9B900297DA4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75844289"/>
              </p:ext>
            </p:extLst>
          </p:nvPr>
        </p:nvGraphicFramePr>
        <p:xfrm>
          <a:off x="1726965" y="3663221"/>
          <a:ext cx="8393936" cy="2825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8484">
                  <a:extLst>
                    <a:ext uri="{9D8B030D-6E8A-4147-A177-3AD203B41FA5}">
                      <a16:colId xmlns:a16="http://schemas.microsoft.com/office/drawing/2014/main" val="2556055731"/>
                    </a:ext>
                  </a:extLst>
                </a:gridCol>
                <a:gridCol w="2098484">
                  <a:extLst>
                    <a:ext uri="{9D8B030D-6E8A-4147-A177-3AD203B41FA5}">
                      <a16:colId xmlns:a16="http://schemas.microsoft.com/office/drawing/2014/main" val="4109116230"/>
                    </a:ext>
                  </a:extLst>
                </a:gridCol>
                <a:gridCol w="2098484">
                  <a:extLst>
                    <a:ext uri="{9D8B030D-6E8A-4147-A177-3AD203B41FA5}">
                      <a16:colId xmlns:a16="http://schemas.microsoft.com/office/drawing/2014/main" val="1724868547"/>
                    </a:ext>
                  </a:extLst>
                </a:gridCol>
                <a:gridCol w="2098484">
                  <a:extLst>
                    <a:ext uri="{9D8B030D-6E8A-4147-A177-3AD203B41FA5}">
                      <a16:colId xmlns:a16="http://schemas.microsoft.com/office/drawing/2014/main" val="2917154736"/>
                    </a:ext>
                  </a:extLst>
                </a:gridCol>
              </a:tblGrid>
              <a:tr h="600888">
                <a:tc>
                  <a:txBody>
                    <a:bodyPr/>
                    <a:lstStyle/>
                    <a:p>
                      <a:endParaRPr 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ysClr val="windowText" lastClr="000000"/>
                          </a:solidFill>
                        </a:rPr>
                        <a:t>Covariates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ysClr val="windowText" lastClr="000000"/>
                          </a:solidFill>
                        </a:rPr>
                        <a:t>Target 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ysClr val="windowText" lastClr="000000"/>
                          </a:solidFill>
                        </a:rPr>
                        <a:t>RMSE on Test Data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2475517"/>
                  </a:ext>
                </a:extLst>
              </a:tr>
              <a:tr h="348134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ysClr val="windowText" lastClr="000000"/>
                          </a:solidFill>
                        </a:rPr>
                        <a:t>Model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Mean Temp Summed CDM values, Summed </a:t>
                      </a:r>
                      <a:r>
                        <a:rPr lang="en-US" sz="1400" dirty="0" err="1"/>
                        <a:t>Precip</a:t>
                      </a:r>
                      <a:r>
                        <a:rPr lang="en-US" sz="1400" dirty="0"/>
                        <a:t> CDM Values, Mean Solar Radiation, Mean Min Temp, Mean Max Temp, Elevation, Slope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Peak SWE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262.518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68113540"/>
                  </a:ext>
                </a:extLst>
              </a:tr>
              <a:tr h="600888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ysClr val="windowText" lastClr="000000"/>
                          </a:solidFill>
                        </a:rPr>
                        <a:t>Model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Same as Model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Log of Peak SWE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272.0743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817069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9F536980-6382-F906-4D27-6EEC623A92AC}"/>
              </a:ext>
            </a:extLst>
          </p:cNvPr>
          <p:cNvSpPr txBox="1"/>
          <p:nvPr/>
        </p:nvSpPr>
        <p:spPr>
          <a:xfrm>
            <a:off x="1621861" y="1346670"/>
            <a:ext cx="839393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For all models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Mean or Summed covariates are averaged or summed from October 2009 – May 2010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dirty="0"/>
              <a:t>Covariates determined using RMSE on test split of dataset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dirty="0"/>
              <a:t>Final combination applied to both Peak SWE and Log of Peak SWE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Number of trees: 2000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Number of features tested at each node split</a:t>
            </a:r>
            <a:r>
              <a:rPr lang="en-US"/>
              <a:t>: 2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Log </a:t>
            </a:r>
            <a:r>
              <a:rPr lang="en-US" dirty="0"/>
              <a:t>model underestimates higher SWE values, inflating RMSE</a:t>
            </a:r>
          </a:p>
        </p:txBody>
      </p:sp>
    </p:spTree>
    <p:extLst>
      <p:ext uri="{BB962C8B-B14F-4D97-AF65-F5344CB8AC3E}">
        <p14:creationId xmlns:p14="http://schemas.microsoft.com/office/powerpoint/2010/main" val="41911537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552843-4787-5D7C-2AE6-B57395DCBA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 Maps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80021AEF-E094-BECC-ABF0-7EDD9C461D4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230" t="-269" r="12339" b="224"/>
          <a:stretch/>
        </p:blipFill>
        <p:spPr>
          <a:xfrm>
            <a:off x="6015948" y="1651895"/>
            <a:ext cx="5093485" cy="4233899"/>
          </a:xfrm>
          <a:prstGeom prst="rect">
            <a:avLst/>
          </a:prstGeom>
        </p:spPr>
      </p:pic>
      <p:pic>
        <p:nvPicPr>
          <p:cNvPr id="16" name="Content Placeholder 12">
            <a:extLst>
              <a:ext uri="{FF2B5EF4-FFF2-40B4-BE49-F238E27FC236}">
                <a16:creationId xmlns:a16="http://schemas.microsoft.com/office/drawing/2014/main" id="{10A4FB23-F589-7AE3-7AC4-43D13EF1500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749" t="230" r="10892" b="644"/>
          <a:stretch/>
        </p:blipFill>
        <p:spPr>
          <a:xfrm>
            <a:off x="386229" y="1651895"/>
            <a:ext cx="5254559" cy="4223813"/>
          </a:xfrm>
          <a:prstGeom prst="rect">
            <a:avLst/>
          </a:prstGeom>
        </p:spPr>
      </p:pic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92F8E1CF-1A9B-1B9B-5E66-1F32F8BE7A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94710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26C7C-2BE3-20A0-6AA4-682C83711C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 with Zero Points Added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D2DA84-5E9E-EDD9-EAF4-FB6B4386DE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23030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ADC002-ECDB-E062-69EA-63CA37FFD3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Factors to Consider for Future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2057CE-243B-9078-42CF-16246BDC11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background “zero-value” points</a:t>
            </a:r>
          </a:p>
          <a:p>
            <a:r>
              <a:rPr lang="en-US" dirty="0"/>
              <a:t>Trimming AOI</a:t>
            </a:r>
          </a:p>
          <a:p>
            <a:r>
              <a:rPr lang="en-US" dirty="0"/>
              <a:t>Alternative Modeling Methodologies</a:t>
            </a:r>
          </a:p>
          <a:p>
            <a:r>
              <a:rPr lang="en-US" dirty="0"/>
              <a:t>Scaling variables instead of using “raw” values</a:t>
            </a:r>
          </a:p>
        </p:txBody>
      </p:sp>
    </p:spTree>
    <p:extLst>
      <p:ext uri="{BB962C8B-B14F-4D97-AF65-F5344CB8AC3E}">
        <p14:creationId xmlns:p14="http://schemas.microsoft.com/office/powerpoint/2010/main" val="8577535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F64896-15D5-A10A-4BBF-E37E2C9C70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D69F45-9FAE-C11A-B4EB-E90587B23F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25000" lnSpcReduction="20000"/>
          </a:bodyPr>
          <a:lstStyle/>
          <a:p>
            <a:r>
              <a:rPr lang="en-US" sz="2400" dirty="0" err="1"/>
              <a:t>Breiman</a:t>
            </a:r>
            <a:r>
              <a:rPr lang="en-US" sz="2400" dirty="0"/>
              <a:t>, L. (2001). Random forests. Machine learning, 45, 5-32.</a:t>
            </a:r>
          </a:p>
          <a:p>
            <a:r>
              <a:rPr lang="en-US" sz="2400" dirty="0"/>
              <a:t>Elder, K., Dozier, J., &amp; Michaelsen, J. (1991). Snow accumulation and distribution in an Alpine Watershed. Water Resources Research, 27(7), 1541–1552. https://</a:t>
            </a:r>
            <a:r>
              <a:rPr lang="en-US" sz="2400" dirty="0" err="1"/>
              <a:t>doi.org</a:t>
            </a:r>
            <a:r>
              <a:rPr lang="en-US" sz="2400" dirty="0"/>
              <a:t>/10.1029/91WR00506</a:t>
            </a:r>
          </a:p>
          <a:p>
            <a:r>
              <a:rPr lang="en-US" sz="2400" dirty="0"/>
              <a:t>Farr, T.G., Rosen, P.A., Caro, E., Crippen, R., Duren, R., Hensley, S., </a:t>
            </a:r>
            <a:r>
              <a:rPr lang="en-US" sz="2400" dirty="0" err="1"/>
              <a:t>Kobrick</a:t>
            </a:r>
            <a:r>
              <a:rPr lang="en-US" sz="2400" dirty="0"/>
              <a:t>, M., Paller, M., Rodriguez, E., Roth, L., Seal, D., Shaffer, S., Shimada, J., Umland, J., Werner, M., Oskin, M., Burbank, D., and </a:t>
            </a:r>
            <a:r>
              <a:rPr lang="en-US" sz="2400" dirty="0" err="1"/>
              <a:t>Alsdorf</a:t>
            </a:r>
            <a:r>
              <a:rPr lang="en-US" sz="2400" dirty="0"/>
              <a:t>, D.E., (2007). The shuttle radar topography mission: Reviews of Geophysics, v. 45, no. 2, RG2004, at https://</a:t>
            </a:r>
            <a:r>
              <a:rPr lang="en-US" sz="2400" dirty="0" err="1"/>
              <a:t>doi.org</a:t>
            </a:r>
            <a:r>
              <a:rPr lang="en-US" sz="2400" dirty="0"/>
              <a:t>/10.1029/2005RG000183.</a:t>
            </a:r>
          </a:p>
          <a:p>
            <a:r>
              <a:rPr lang="en-US" sz="2400" dirty="0" err="1"/>
              <a:t>Fierz</a:t>
            </a:r>
            <a:r>
              <a:rPr lang="en-US" sz="2400" dirty="0"/>
              <a:t>, C., Armstrong, R.L., Durand, Y., </a:t>
            </a:r>
            <a:r>
              <a:rPr lang="en-US" sz="2400" dirty="0" err="1"/>
              <a:t>Etchevers</a:t>
            </a:r>
            <a:r>
              <a:rPr lang="en-US" sz="2400" dirty="0"/>
              <a:t>, P., Greene, E., McClung, D.M., Nishimura, K., </a:t>
            </a:r>
            <a:r>
              <a:rPr lang="en-US" sz="2400" dirty="0" err="1"/>
              <a:t>Satyawali</a:t>
            </a:r>
            <a:r>
              <a:rPr lang="en-US" sz="2400" dirty="0"/>
              <a:t>, P.K. and </a:t>
            </a:r>
            <a:r>
              <a:rPr lang="en-US" sz="2400" dirty="0" err="1"/>
              <a:t>Sokratov</a:t>
            </a:r>
            <a:r>
              <a:rPr lang="en-US" sz="2400" dirty="0"/>
              <a:t>, S.A. 2009. The International Classification for Seasonal Snow on the Ground. IHP-VII Technical Documents in Hydrology N°83, IACS Contribution N°1, UNESCO-IHP, Paris.</a:t>
            </a:r>
          </a:p>
          <a:p>
            <a:r>
              <a:rPr lang="en-US" sz="2400" dirty="0"/>
              <a:t>Hale, K. E., Jennings, K. S., Musselman, K. N., </a:t>
            </a:r>
            <a:r>
              <a:rPr lang="en-US" sz="2400" dirty="0" err="1"/>
              <a:t>Livneh</a:t>
            </a:r>
            <a:r>
              <a:rPr lang="en-US" sz="2400" dirty="0"/>
              <a:t>, B., &amp; </a:t>
            </a:r>
            <a:r>
              <a:rPr lang="en-US" sz="2400" dirty="0" err="1"/>
              <a:t>Molotch</a:t>
            </a:r>
            <a:r>
              <a:rPr lang="en-US" sz="2400" dirty="0"/>
              <a:t>, N. P. (2023). Recent decreases in snow water storage in western North America. Communications Earth &amp; Environment, 4(1), 170. https://</a:t>
            </a:r>
            <a:r>
              <a:rPr lang="en-US" sz="2400" dirty="0" err="1"/>
              <a:t>doi.org</a:t>
            </a:r>
            <a:r>
              <a:rPr lang="en-US" sz="2400" dirty="0"/>
              <a:t>/10.1038/s43247-023-00751-3</a:t>
            </a:r>
          </a:p>
          <a:p>
            <a:r>
              <a:rPr lang="en-US" sz="2400" dirty="0" err="1"/>
              <a:t>Hufkens</a:t>
            </a:r>
            <a:r>
              <a:rPr lang="en-US" sz="2400" dirty="0"/>
              <a:t>, K. (2022). </a:t>
            </a:r>
            <a:r>
              <a:rPr lang="en-US" sz="2400" dirty="0" err="1"/>
              <a:t>snotelr</a:t>
            </a:r>
            <a:r>
              <a:rPr lang="en-US" sz="2400" dirty="0"/>
              <a:t>: a toolbox to facilitate easy SNOTEL data exploration and downloads in R. </a:t>
            </a:r>
            <a:r>
              <a:rPr lang="en-US" sz="2400" dirty="0" err="1"/>
              <a:t>Zenodo</a:t>
            </a:r>
            <a:r>
              <a:rPr lang="en-US" sz="2400" dirty="0"/>
              <a:t>. https://</a:t>
            </a:r>
            <a:r>
              <a:rPr lang="en-US" sz="2400" dirty="0" err="1"/>
              <a:t>doi.org</a:t>
            </a:r>
            <a:r>
              <a:rPr lang="en-US" sz="2400" dirty="0"/>
              <a:t>/10.5281/zenodo.7012728.</a:t>
            </a:r>
          </a:p>
          <a:p>
            <a:r>
              <a:rPr lang="en-US" sz="2400" dirty="0" err="1"/>
              <a:t>Molotch</a:t>
            </a:r>
            <a:r>
              <a:rPr lang="en-US" sz="2400" dirty="0"/>
              <a:t>, N. P., &amp; Bales, R. C. (2006). SNOTEL representativeness in the Rio Grande headwaters on the basis of </a:t>
            </a:r>
            <a:r>
              <a:rPr lang="en-US" sz="2400" dirty="0" err="1"/>
              <a:t>physiographics</a:t>
            </a:r>
            <a:r>
              <a:rPr lang="en-US" sz="2400" dirty="0"/>
              <a:t> and remotely sensed snow cover persistence. Hydrological Processes, 20(4), 723–739. </a:t>
            </a:r>
            <a:r>
              <a:rPr lang="en-US" sz="2400" dirty="0">
                <a:hlinkClick r:id="rId2"/>
              </a:rPr>
              <a:t>https://doi.org/10.1002/hyp.6128</a:t>
            </a:r>
            <a:endParaRPr lang="en-US" sz="2400" dirty="0"/>
          </a:p>
          <a:p>
            <a:r>
              <a:rPr lang="en-US" sz="2400" dirty="0"/>
              <a:t>Musselman, K. N., </a:t>
            </a:r>
            <a:r>
              <a:rPr lang="en-US" sz="2400" dirty="0" err="1"/>
              <a:t>Molotch</a:t>
            </a:r>
            <a:r>
              <a:rPr lang="en-US" sz="2400" dirty="0"/>
              <a:t>, N. P., &amp; Margulis, S. A. (2017). Snowmelt response to simulated warming across a large elevation gradient, southern Sierra Nevada, California. The Cryosphere, 11(6), 2847–2866. https://</a:t>
            </a:r>
            <a:r>
              <a:rPr lang="en-US" sz="2400" dirty="0" err="1"/>
              <a:t>doi.org</a:t>
            </a:r>
            <a:r>
              <a:rPr lang="en-US" sz="2400" dirty="0"/>
              <a:t>/10.5194/tc-11-2847-2017</a:t>
            </a:r>
          </a:p>
          <a:p>
            <a:r>
              <a:rPr lang="en-US" sz="2400" dirty="0"/>
              <a:t>Qin, Y., </a:t>
            </a:r>
            <a:r>
              <a:rPr lang="en-US" sz="2400" dirty="0" err="1"/>
              <a:t>Abatzoglou</a:t>
            </a:r>
            <a:r>
              <a:rPr lang="en-US" sz="2400" dirty="0"/>
              <a:t>, J. T., Siebert, S., Huning, L. S., </a:t>
            </a:r>
            <a:r>
              <a:rPr lang="en-US" sz="2400" dirty="0" err="1"/>
              <a:t>AghaKouchak</a:t>
            </a:r>
            <a:r>
              <a:rPr lang="en-US" sz="2400" dirty="0"/>
              <a:t>, A., Mankin, J. S., Hong, C., Tong, D., Davis, S. J., &amp; Mueller, N. D. (2020). Agricultural risks from changing snowmelt. Nature Climate Change, 10(5), 459–465. https://</a:t>
            </a:r>
            <a:r>
              <a:rPr lang="en-US" sz="2400" dirty="0" err="1"/>
              <a:t>doi.org</a:t>
            </a:r>
            <a:r>
              <a:rPr lang="en-US" sz="2400" dirty="0"/>
              <a:t>/10.1038/s41558-020-0746-8</a:t>
            </a:r>
          </a:p>
          <a:p>
            <a:r>
              <a:rPr lang="en-US" sz="2400" dirty="0" err="1"/>
              <a:t>Siirila</a:t>
            </a:r>
            <a:r>
              <a:rPr lang="en-US" sz="2400" dirty="0"/>
              <a:t>-Woodburn, E. R., Rhoades, A. M., Hatchett, B. J., Huning, L. S., </a:t>
            </a:r>
            <a:r>
              <a:rPr lang="en-US" sz="2400" dirty="0" err="1"/>
              <a:t>Szinai</a:t>
            </a:r>
            <a:r>
              <a:rPr lang="en-US" sz="2400" dirty="0"/>
              <a:t>, J., Tague, C., Nico, P. S., Feldman, D. R., Jones, A. D., Collins, W. D., &amp; </a:t>
            </a:r>
            <a:r>
              <a:rPr lang="en-US" sz="2400" dirty="0" err="1"/>
              <a:t>Kaatz</a:t>
            </a:r>
            <a:r>
              <a:rPr lang="en-US" sz="2400" dirty="0"/>
              <a:t>, L. (2021). A low-to-no snow future and its impacts on water resources in the western United States. Nature Reviews Earth &amp; Environment, 2(11), 800–819. https://</a:t>
            </a:r>
            <a:r>
              <a:rPr lang="en-US" sz="2400" dirty="0" err="1"/>
              <a:t>doi.org</a:t>
            </a:r>
            <a:r>
              <a:rPr lang="en-US" sz="2400" dirty="0"/>
              <a:t>/10.1038/s43017-021-00219-y</a:t>
            </a:r>
          </a:p>
          <a:p>
            <a:r>
              <a:rPr lang="en-US" sz="2400" dirty="0"/>
              <a:t>Sturm, M., &amp; Liston, G. E. (2021). Revisiting the Global Seasonal Snow Classification: An Updated Dataset for Earth System Applications. Journal of Hydrometeorology. https://</a:t>
            </a:r>
            <a:r>
              <a:rPr lang="en-US" sz="2400" dirty="0" err="1"/>
              <a:t>doi.org</a:t>
            </a:r>
            <a:r>
              <a:rPr lang="en-US" sz="2400" dirty="0"/>
              <a:t>/10.1175/JHM-D-21-0070.1</a:t>
            </a:r>
          </a:p>
          <a:p>
            <a:r>
              <a:rPr lang="en-US" sz="2400" dirty="0"/>
              <a:t>Thornton, M.M., R. Shrestha, Y. Wei, P.E. Thornton, S-C. Kao, and B.E. Wilson. (2022). </a:t>
            </a:r>
            <a:r>
              <a:rPr lang="en-US" sz="2400" dirty="0" err="1"/>
              <a:t>Daymet</a:t>
            </a:r>
            <a:r>
              <a:rPr lang="en-US" sz="2400" dirty="0"/>
              <a:t>: Daily Surface Weather Data on a 1-km Grid for North America, Version 4 R1. ORNL DAAC, Oak Ridge, Tennessee, USA. https://</a:t>
            </a:r>
            <a:r>
              <a:rPr lang="en-US" sz="2400" dirty="0" err="1"/>
              <a:t>doi.org</a:t>
            </a:r>
            <a:r>
              <a:rPr lang="en-US" sz="2400" dirty="0"/>
              <a:t>/10.3334/ORNLDAAC/2129</a:t>
            </a:r>
          </a:p>
          <a:p>
            <a:r>
              <a:rPr lang="en-US" sz="2400" dirty="0">
                <a:effectLst/>
              </a:rPr>
              <a:t>Fleming, S. W., </a:t>
            </a:r>
            <a:r>
              <a:rPr lang="en-US" sz="2400" dirty="0" err="1">
                <a:effectLst/>
              </a:rPr>
              <a:t>Zukiewicz</a:t>
            </a:r>
            <a:r>
              <a:rPr lang="en-US" sz="2400" dirty="0">
                <a:effectLst/>
              </a:rPr>
              <a:t>, L., Strobel, M. L., Hofman, H., &amp; Goodbody, A. G. (2023). SNOTEL, the Soil Climate Analysis Network, and water supply forecasting at the Natural Resources Conservation Service: Past, present, and future. </a:t>
            </a:r>
            <a:r>
              <a:rPr lang="en-US" sz="2400" i="1" dirty="0">
                <a:effectLst/>
              </a:rPr>
              <a:t>JAWRA Journal of the American Water Resources Association</a:t>
            </a:r>
            <a:r>
              <a:rPr lang="en-US" sz="2400" dirty="0">
                <a:effectLst/>
              </a:rPr>
              <a:t>, </a:t>
            </a:r>
            <a:r>
              <a:rPr lang="en-US" sz="2400" i="1" dirty="0">
                <a:effectLst/>
              </a:rPr>
              <a:t>59</a:t>
            </a:r>
            <a:r>
              <a:rPr lang="en-US" sz="2400" dirty="0">
                <a:effectLst/>
              </a:rPr>
              <a:t>(4), 585–599. </a:t>
            </a:r>
            <a:r>
              <a:rPr lang="en-US" sz="2400" dirty="0">
                <a:effectLst/>
                <a:hlinkClick r:id="rId3"/>
              </a:rPr>
              <a:t>https://doi.org/10.1111/1752-1688.13104</a:t>
            </a:r>
            <a:endParaRPr lang="en-US" sz="2400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696126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adison">
  <a:themeElements>
    <a:clrScheme name="Madison">
      <a:dk1>
        <a:sysClr val="windowText" lastClr="000000"/>
      </a:dk1>
      <a:lt1>
        <a:sysClr val="window" lastClr="FFFFFF"/>
      </a:lt1>
      <a:dk2>
        <a:srgbClr val="1F2D29"/>
      </a:dk2>
      <a:lt2>
        <a:srgbClr val="C5FAEB"/>
      </a:lt2>
      <a:accent1>
        <a:srgbClr val="A1D68B"/>
      </a:accent1>
      <a:accent2>
        <a:srgbClr val="5EC795"/>
      </a:accent2>
      <a:accent3>
        <a:srgbClr val="4DADCF"/>
      </a:accent3>
      <a:accent4>
        <a:srgbClr val="CDB756"/>
      </a:accent4>
      <a:accent5>
        <a:srgbClr val="E29C36"/>
      </a:accent5>
      <a:accent6>
        <a:srgbClr val="8EC0C1"/>
      </a:accent6>
      <a:hlink>
        <a:srgbClr val="6D9D9B"/>
      </a:hlink>
      <a:folHlink>
        <a:srgbClr val="6D8583"/>
      </a:folHlink>
    </a:clrScheme>
    <a:fontScheme name="Madison">
      <a:majorFont>
        <a:latin typeface="Arial" panose="020B06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adison">
      <a:fillStyleLst>
        <a:solidFill>
          <a:schemeClr val="phClr"/>
        </a:solidFill>
        <a:gradFill rotWithShape="1">
          <a:gsLst>
            <a:gs pos="0">
              <a:schemeClr val="phClr">
                <a:tint val="48000"/>
                <a:alpha val="88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4000"/>
                <a:satMod val="130000"/>
                <a:lumMod val="92000"/>
              </a:schemeClr>
            </a:gs>
            <a:gs pos="100000">
              <a:schemeClr val="phClr">
                <a:shade val="76000"/>
                <a:satMod val="130000"/>
                <a:lumMod val="88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adison" id="{025CB5FB-2DD3-45EE-B6F0-CC461540EB19}" vid="{6AC10936-2DFC-4054-9ADF-B5E2C5F8619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{8755D1EC-AF32-224F-9676-7D45810E63DA}tf16401378</Template>
  <TotalTime>1125</TotalTime>
  <Words>1097</Words>
  <Application>Microsoft Macintosh PowerPoint</Application>
  <PresentationFormat>Widescreen</PresentationFormat>
  <Paragraphs>68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MS Shell Dlg 2</vt:lpstr>
      <vt:lpstr>Wingdings</vt:lpstr>
      <vt:lpstr>Wingdings 3</vt:lpstr>
      <vt:lpstr>Madison</vt:lpstr>
      <vt:lpstr>Random Forest Modeling of Peak Snow Water Equivalent (SWE) in Water Year 2010 for the Conterminous U.S.</vt:lpstr>
      <vt:lpstr>Why does this matter?</vt:lpstr>
      <vt:lpstr>Preparing Data for Analysis and Modeling</vt:lpstr>
      <vt:lpstr>Evaluating Spatial Autocorrelation</vt:lpstr>
      <vt:lpstr>Random Forest</vt:lpstr>
      <vt:lpstr>Results</vt:lpstr>
      <vt:lpstr>Results Maps</vt:lpstr>
      <vt:lpstr>Results with Zero Points Added</vt:lpstr>
      <vt:lpstr>Factors to Consider for Future Work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Griffin Shelor</dc:creator>
  <cp:lastModifiedBy>Griffin Shelor</cp:lastModifiedBy>
  <cp:revision>23</cp:revision>
  <dcterms:created xsi:type="dcterms:W3CDTF">2024-12-02T05:18:50Z</dcterms:created>
  <dcterms:modified xsi:type="dcterms:W3CDTF">2024-12-16T02:08:12Z</dcterms:modified>
</cp:coreProperties>
</file>